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D3C9"/>
                </a:solidFill>
                <a:latin typeface="Aptos"/>
              </a:rPr>
              <a:t>BYOC CAPSTONE  / 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Intelligent Credit Card</a:t>
            </a:r>
            <a:br/>
            <a:r>
              <a:rPr sz="3400" b="1">
                <a:solidFill>
                  <a:srgbClr val="FFFFFF"/>
                </a:solidFill>
                <a:latin typeface="Aptos"/>
              </a:rPr>
              <a:t>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246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3DEE8"/>
                </a:solidFill>
                <a:latin typeface="Aptos"/>
              </a:rPr>
              <a:t>Explainable, cost-aware triage for rare fraudulent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8231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E45756"/>
                </a:solidFill>
                <a:latin typeface="Aptos"/>
              </a:rPr>
              <a:t>0.167%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57800"/>
            <a:ext cx="2203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Fraud prevalence after dedup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66344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478231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0.786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5257800"/>
            <a:ext cx="2203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XGBoost test average 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66344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78231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0A202"/>
                </a:solidFill>
                <a:latin typeface="Aptos"/>
              </a:rPr>
              <a:t>81.1%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5257800"/>
            <a:ext cx="2203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Recall at score threshold 0.50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8646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Model score is not a calibrated probability.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C6D4"/>
                </a:solidFill>
                <a:latin typeface="Aptos"/>
              </a:rPr>
              <a:t>Prepared 11 Oct 2026  |  Dataset: ULB / Kaggle anonymized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The business problem is a queue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B53"/>
                </a:solidFill>
                <a:latin typeface="Aptos"/>
              </a:defRPr>
            </a:pPr>
            <a:r>
              <a:t>Fraud is rare: the majority class dominates every simple metric.</a:t>
            </a:r>
          </a:p>
          <a:p>
            <a:pPr>
              <a:spcAft>
                <a:spcPts val="800"/>
              </a:spcAft>
              <a:defRPr sz="1700">
                <a:solidFill>
                  <a:srgbClr val="243B53"/>
                </a:solidFill>
                <a:latin typeface="Aptos"/>
              </a:defRPr>
            </a:pPr>
            <a:r>
              <a:t>False negatives can allow fraud; false positives create friction and investigator workload.</a:t>
            </a:r>
          </a:p>
          <a:p>
            <a:pPr>
              <a:spcAft>
                <a:spcPts val="800"/>
              </a:spcAft>
              <a:defRPr sz="1700">
                <a:solidFill>
                  <a:srgbClr val="243B53"/>
                </a:solidFill>
                <a:latin typeface="Aptos"/>
              </a:defRPr>
            </a:pPr>
            <a:r>
              <a:t>A useful system must expose score threshold, alert volume, fraud capture and missed cases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45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647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E45756"/>
                </a:solidFill>
                <a:latin typeface="Aptos"/>
              </a:rPr>
              <a:t>99.87%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24028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Test accuracy if all transactions called legitimate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45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7647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E45756"/>
                </a:solidFill>
                <a:latin typeface="Aptos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24028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Fraud recall of that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3756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2A43"/>
                </a:solidFill>
                <a:latin typeface="Aptos"/>
              </a:rPr>
              <a:t>Success question</a:t>
            </a:r>
            <a:br/>
            <a:r>
              <a:rPr sz="2000" b="1">
                <a:solidFill>
                  <a:srgbClr val="102A43"/>
                </a:solidFill>
                <a:latin typeface="Aptos"/>
              </a:rPr>
              <a:t>How many frauds can be surfaced at a review volume that operations can tolerate?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Data profile: usable benchmark, narrow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284,807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Raw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3258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4447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92024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258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4447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E45756"/>
                </a:solidFill>
                <a:latin typeface="Aptos"/>
              </a:rPr>
              <a:t>1,081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92024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Exact duplicate rows identified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3258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4447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192024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Missing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258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4447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0A202"/>
                </a:solidFill>
                <a:latin typeface="Aptos"/>
              </a:rPr>
              <a:t>2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192024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Observed window</a:t>
            </a:r>
          </a:p>
        </p:txBody>
      </p:sp>
      <p:pic>
        <p:nvPicPr>
          <p:cNvPr id="20" name="Picture 19" descr="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5029200" cy="29082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80760" y="28346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43B53"/>
                </a:solidFill>
                <a:latin typeface="Aptos"/>
              </a:defRPr>
            </a:pPr>
            <a:r>
              <a:t>V1–V28 are PCA-transformed, anonymized components.</a:t>
            </a:r>
          </a:p>
          <a:p>
            <a:pPr>
              <a:spcAft>
                <a:spcPts val="800"/>
              </a:spcAft>
              <a:defRPr sz="1400">
                <a:solidFill>
                  <a:srgbClr val="243B53"/>
                </a:solidFill>
                <a:latin typeface="Aptos"/>
              </a:defRPr>
            </a:pPr>
            <a:r>
              <a:t>No customer, merchant, device or account identifiers are provided.</a:t>
            </a:r>
          </a:p>
          <a:p>
            <a:pPr>
              <a:spcAft>
                <a:spcPts val="800"/>
              </a:spcAft>
              <a:defRPr sz="1400">
                <a:solidFill>
                  <a:srgbClr val="243B53"/>
                </a:solidFill>
                <a:latin typeface="Aptos"/>
              </a:defRPr>
            </a:pPr>
            <a:r>
              <a:t>Exact duplicates removed for the primary temporal model; 19 duplicate rows carry fraud labels.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Architecture: reproducible analytics to decision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6642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240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4575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DuckDB SQL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profile + dedup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7128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7D9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057400"/>
            <a:ext cx="16642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2240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4575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65176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Features +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chronological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7D9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057400"/>
            <a:ext cx="16642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240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4575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65176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Logistic baseline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+ 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7D9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057400"/>
            <a:ext cx="16642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240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4575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65176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PR metrics +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statistical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7D9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2057400"/>
            <a:ext cx="16642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240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45756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65176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TreeSHAP +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threshold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7D92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2057400"/>
            <a:ext cx="16642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05288" y="2240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45756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65176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Streamlit +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Power BI exports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43B53"/>
                </a:solidFill>
                <a:latin typeface="Aptos"/>
              </a:rPr>
              <a:t>Why it matters: SQL handles repeatable profiling/aggregates; the temporal holdout tests forward-in-time generalization; the UI exposes the alert trade-off to business stakeholders.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45756"/>
                </a:solidFill>
                <a:latin typeface="Aptos"/>
              </a:rPr>
              <a:t>DuckDB source implementation is included; execution must be verified after installing the pinned dependency.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Statistical diagnostics reveal differences, not causes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120640" cy="2956606"/>
          </a:xfrm>
          <a:prstGeom prst="rect">
            <a:avLst/>
          </a:prstGeom>
        </p:spPr>
      </p:pic>
      <p:pic>
        <p:nvPicPr>
          <p:cNvPr id="6" name="Picture 5" descr="fraud_rate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7320"/>
            <a:ext cx="5212080" cy="2672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120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Mann–Whitney amount test: p = 2.69e-05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Fraud median 9.82; legitimate median 22.00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120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Time-half fraud-rate test: p = 0.0189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0.1847% vs 0.1487%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XGBoost ranks fraud cases well; the operating point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057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0.786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Average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2057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904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0.980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96596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057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904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0A202"/>
                </a:solidFill>
                <a:latin typeface="Aptos"/>
              </a:rPr>
              <a:t>41.4%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96596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Precision @ 0.50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371600"/>
            <a:ext cx="2057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4904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7D92"/>
                </a:solidFill>
                <a:latin typeface="Aptos"/>
              </a:rPr>
              <a:t>81.1%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196596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Recall @ 0.50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371600"/>
            <a:ext cx="2057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4904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E45756"/>
                </a:solidFill>
                <a:latin typeface="Aptos"/>
              </a:rPr>
              <a:t>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1965960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False alerts @ 0.50</a:t>
            </a:r>
          </a:p>
        </p:txBody>
      </p:sp>
      <p:pic>
        <p:nvPicPr>
          <p:cNvPr id="20" name="Picture 19" descr="precision_re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5486400" cy="3368233"/>
          </a:xfrm>
          <a:prstGeom prst="rect">
            <a:avLst/>
          </a:prstGeom>
        </p:spPr>
      </p:pic>
      <p:pic>
        <p:nvPicPr>
          <p:cNvPr id="21" name="Picture 20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34640"/>
            <a:ext cx="4480560" cy="3108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Threshold tuning must survive a later time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reshold_co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33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Validation-selected threshold: 0.831.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Test cost at 0.50: 365 units (14 FN × 20 + 85 FP × 1).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Test cost at validation-selected threshold: 384 units.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Selected threshold failed to improve later-window cost; use more validation data and real cost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Explainability supports investigation, not causal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69280" cy="3716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087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TreeSHAP contributions are available per scored row.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Show the top contributing component and its signed contribution.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V1–V28 are anonymized PCA components; do not invent meanings like location or device.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Streamlit provides filterable rows, risk tiers, a threshold slider and downloadable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Engineering choices and 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8760"/>
          <a:ext cx="107899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49039"/>
                <a:gridCol w="4983480"/>
              </a:tblGrid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Benefit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Trade-off / caveat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Chronological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More realistic for future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Few frauds in the later holdout increases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Exact deduplication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Reduces identical-row leakage risk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Could remove indistinguishable repeated events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Class-weighted 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High AP; handles class imbalance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Scores are not calibrated probabilities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Cost scenario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Makes trade-offs explicit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Costs are assumptions; validation optimum did not transfer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PCA anonymity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Protects original feature confidentiality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3B53"/>
                          </a:solidFill>
                        </a:rPr>
                        <a:t>Limits business-readable explanations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D3C9"/>
                </a:solidFill>
                <a:latin typeface="Aptos"/>
              </a:rPr>
              <a:t>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Move from benchmark to governed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Collect recent, representative labeled transactions and validate with rolling temporal holdouts.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Calibrate scores on a dedicated time window and choose thresholds with fraud operations/finance.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Measure queue volume, false-alert costs, fraud loss avoided and reviewer capacity in shadow mode.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Add monitoring, delayed-label handling, audit logs, privacy/fairness review and human override.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Only add a policy-grounded GenAI analyst after governance review; LLM explains evidence, never authorizes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CE73"/>
                </a:solidFill>
                <a:latin typeface="Aptos"/>
              </a:rPr>
              <a:t>Decision today: proceed as an offline analyst-triage prototype; do not auto-block real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7D92"/>
                </a:solidFill>
                <a:latin typeface="Aptos"/>
              </a:rPr>
              <a:t>BYOC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Appendix: dataset, metrics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914400" cy="4572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Source: https://www.kaggle.com/datasets/mlg-ulb/creditcardfraud — verify current ODbL/database terms before redistribution.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Schema: Time, V1–V28, Amount, Class (0 legitimate, 1 fraud).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Deduplicated data: 283,726 rows / 473 fraud labels; split 170,235 train, 37 validation, 56,746 test.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Run: install requirements; place CSV under data/raw; `PYTHONPATH=src python -m src.run_pipeline`; `streamlit run app/streamlit_app.py`; `pytest -q`.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Outputs: technical report, executive deck, README/GitHub guide, metrics CSVs and compact demo assets.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  <a:latin typeface="Aptos"/>
              </a:defRPr>
            </a:pPr>
            <a:r>
              <a:t>Reference docs: DuckDB, scikit-learn model evaluation, Streamlit, FastAPI, NIST AI RMF.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27D98"/>
                </a:solidFill>
                <a:latin typeface="Aptos"/>
              </a:rPr>
              <a:t>INTELLIGENT CREDIT CARD FRAUD DETECTION  •  OFFLINE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27D9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